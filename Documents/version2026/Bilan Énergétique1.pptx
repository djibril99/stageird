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Open Sans Bold" charset="1" panose="020B0806030504020204"/>
      <p:regular r:id="rId26"/>
    </p:embeddedFont>
    <p:embeddedFont>
      <p:font typeface="Open Sans" charset="1" panose="020B0606030504020204"/>
      <p:regular r:id="rId27"/>
    </p:embeddedFont>
    <p:embeddedFont>
      <p:font typeface="Open Sans Bold Italics" charset="1" panose="020B0806030504020204"/>
      <p:regular r:id="rId28"/>
    </p:embeddedFont>
    <p:embeddedFont>
      <p:font typeface="Open Sans Italics" charset="1" panose="020B0606030504020204"/>
      <p:regular r:id="rId29"/>
    </p:embeddedFont>
    <p:embeddedFont>
      <p:font typeface="Lora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766641" y="4274503"/>
            <a:ext cx="1075471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Resultats Obtenus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37037" y="2284985"/>
            <a:ext cx="1225848" cy="31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18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WaterMark</a:t>
            </a:r>
          </a:p>
        </p:txBody>
      </p:sp>
      <p:sp>
        <p:nvSpPr>
          <p:cNvPr name="AutoShape 4" id="4"/>
          <p:cNvSpPr/>
          <p:nvPr/>
        </p:nvSpPr>
        <p:spPr>
          <a:xfrm flipH="true" flipV="true">
            <a:off x="16455443" y="1872185"/>
            <a:ext cx="140914" cy="45089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0" y="288215"/>
            <a:ext cx="18147528" cy="6288867"/>
            <a:chOff x="0" y="0"/>
            <a:chExt cx="24196704" cy="83851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96704" cy="7727822"/>
            </a:xfrm>
            <a:custGeom>
              <a:avLst/>
              <a:gdLst/>
              <a:ahLst/>
              <a:cxnLst/>
              <a:rect r="r" b="b" t="t" l="l"/>
              <a:pathLst>
                <a:path h="7727822" w="24196704">
                  <a:moveTo>
                    <a:pt x="0" y="0"/>
                  </a:moveTo>
                  <a:lnTo>
                    <a:pt x="24196704" y="0"/>
                  </a:lnTo>
                  <a:lnTo>
                    <a:pt x="24196704" y="7727822"/>
                  </a:lnTo>
                  <a:lnTo>
                    <a:pt x="0" y="7727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1466753" y="431009"/>
              <a:ext cx="1545647" cy="6734278"/>
            </a:xfrm>
            <a:custGeom>
              <a:avLst/>
              <a:gdLst/>
              <a:ahLst/>
              <a:cxnLst/>
              <a:rect r="r" b="b" t="t" l="l"/>
              <a:pathLst>
                <a:path h="6734278" w="1545647">
                  <a:moveTo>
                    <a:pt x="0" y="0"/>
                  </a:moveTo>
                  <a:lnTo>
                    <a:pt x="1545647" y="0"/>
                  </a:lnTo>
                  <a:lnTo>
                    <a:pt x="1545647" y="6734278"/>
                  </a:lnTo>
                  <a:lnTo>
                    <a:pt x="0" y="6734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947" t="-30033" r="-32968" b="-3290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6664683" y="7882025"/>
              <a:ext cx="14802070" cy="503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b="true" sz="2300" i="true" u="sng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Variation de la Resistance des capteurs en fonction du pF et du temps(90h) 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7934961"/>
            <a:ext cx="9144000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Mesures de 5 capteurs à des pF variés en fonction du temps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Gamme de mesure stable dans l’ordre de 10K-20k</a:t>
            </a:r>
          </a:p>
          <a:p>
            <a:pPr algn="l">
              <a:lnSpc>
                <a:spcPts val="266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761970"/>
            <a:ext cx="1316854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Watermark et capteur 4 dans les mêmes conditions et dans la même gamme de mesure.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irromètre Installé  (0kPa ; 40 kPa) avec 1kPa = 10mbar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0" y="0"/>
            <a:ext cx="9541514" cy="7156136"/>
            <a:chOff x="0" y="0"/>
            <a:chExt cx="12722019" cy="95415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22019" cy="9541514"/>
            </a:xfrm>
            <a:custGeom>
              <a:avLst/>
              <a:gdLst/>
              <a:ahLst/>
              <a:cxnLst/>
              <a:rect r="r" b="b" t="t" l="l"/>
              <a:pathLst>
                <a:path h="9541514" w="12722019">
                  <a:moveTo>
                    <a:pt x="0" y="0"/>
                  </a:moveTo>
                  <a:lnTo>
                    <a:pt x="12722019" y="0"/>
                  </a:lnTo>
                  <a:lnTo>
                    <a:pt x="12722019" y="9541514"/>
                  </a:lnTo>
                  <a:lnTo>
                    <a:pt x="0" y="9541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2949414" y="2911771"/>
              <a:ext cx="3411596" cy="3717973"/>
              <a:chOff x="0" y="0"/>
              <a:chExt cx="2927350" cy="31902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47458" y="47149"/>
                <a:ext cx="2831073" cy="3103567"/>
              </a:xfrm>
              <a:custGeom>
                <a:avLst/>
                <a:gdLst/>
                <a:ahLst/>
                <a:cxnLst/>
                <a:rect r="r" b="b" t="t" l="l"/>
                <a:pathLst>
                  <a:path h="3103567" w="2831073">
                    <a:moveTo>
                      <a:pt x="912662" y="495141"/>
                    </a:moveTo>
                    <a:cubicBezTo>
                      <a:pt x="479592" y="791051"/>
                      <a:pt x="466892" y="806291"/>
                      <a:pt x="442762" y="831691"/>
                    </a:cubicBezTo>
                    <a:cubicBezTo>
                      <a:pt x="418632" y="857091"/>
                      <a:pt x="398312" y="876141"/>
                      <a:pt x="370372" y="912971"/>
                    </a:cubicBezTo>
                    <a:cubicBezTo>
                      <a:pt x="320842" y="979011"/>
                      <a:pt x="212892" y="1128871"/>
                      <a:pt x="183682" y="1203801"/>
                    </a:cubicBezTo>
                    <a:cubicBezTo>
                      <a:pt x="168442" y="1244441"/>
                      <a:pt x="170982" y="1262221"/>
                      <a:pt x="168442" y="1306671"/>
                    </a:cubicBezTo>
                    <a:cubicBezTo>
                      <a:pt x="162092" y="1387951"/>
                      <a:pt x="151932" y="1578451"/>
                      <a:pt x="167172" y="1654651"/>
                    </a:cubicBezTo>
                    <a:cubicBezTo>
                      <a:pt x="176062" y="1694021"/>
                      <a:pt x="184952" y="1707991"/>
                      <a:pt x="204002" y="1741011"/>
                    </a:cubicBezTo>
                    <a:cubicBezTo>
                      <a:pt x="234482" y="1790541"/>
                      <a:pt x="304332" y="1855311"/>
                      <a:pt x="347512" y="1917541"/>
                    </a:cubicBezTo>
                    <a:cubicBezTo>
                      <a:pt x="389422" y="1977231"/>
                      <a:pt x="419902" y="2048351"/>
                      <a:pt x="458002" y="2108041"/>
                    </a:cubicBezTo>
                    <a:cubicBezTo>
                      <a:pt x="494832" y="2163921"/>
                      <a:pt x="530392" y="2213451"/>
                      <a:pt x="572302" y="2265521"/>
                    </a:cubicBezTo>
                    <a:cubicBezTo>
                      <a:pt x="615482" y="2320131"/>
                      <a:pt x="668822" y="2367121"/>
                      <a:pt x="715812" y="2428081"/>
                    </a:cubicBezTo>
                    <a:cubicBezTo>
                      <a:pt x="767882" y="2495391"/>
                      <a:pt x="812332" y="2586831"/>
                      <a:pt x="868212" y="2655411"/>
                    </a:cubicBezTo>
                    <a:cubicBezTo>
                      <a:pt x="919012" y="2717641"/>
                      <a:pt x="986322" y="2793841"/>
                      <a:pt x="1034582" y="2821781"/>
                    </a:cubicBezTo>
                    <a:cubicBezTo>
                      <a:pt x="1061252" y="2838291"/>
                      <a:pt x="1085382" y="2831941"/>
                      <a:pt x="1108242" y="2842101"/>
                    </a:cubicBezTo>
                    <a:cubicBezTo>
                      <a:pt x="1131102" y="2853531"/>
                      <a:pt x="1147612" y="2876391"/>
                      <a:pt x="1170472" y="2890361"/>
                    </a:cubicBezTo>
                    <a:cubicBezTo>
                      <a:pt x="1194602" y="2904331"/>
                      <a:pt x="1220002" y="2917031"/>
                      <a:pt x="1247942" y="2924651"/>
                    </a:cubicBezTo>
                    <a:cubicBezTo>
                      <a:pt x="1279692" y="2932271"/>
                      <a:pt x="1302552" y="2928461"/>
                      <a:pt x="1349542" y="2931001"/>
                    </a:cubicBezTo>
                    <a:cubicBezTo>
                      <a:pt x="1458762" y="2934811"/>
                      <a:pt x="1796582" y="2943701"/>
                      <a:pt x="1899452" y="2938621"/>
                    </a:cubicBezTo>
                    <a:cubicBezTo>
                      <a:pt x="1940092" y="2936081"/>
                      <a:pt x="1946442" y="2938621"/>
                      <a:pt x="1983272" y="2928461"/>
                    </a:cubicBezTo>
                    <a:cubicBezTo>
                      <a:pt x="2069632" y="2903061"/>
                      <a:pt x="2293152" y="2814161"/>
                      <a:pt x="2389672" y="2736691"/>
                    </a:cubicBezTo>
                    <a:cubicBezTo>
                      <a:pt x="2459522" y="2680811"/>
                      <a:pt x="2497622" y="2618581"/>
                      <a:pt x="2536992" y="2547461"/>
                    </a:cubicBezTo>
                    <a:cubicBezTo>
                      <a:pt x="2578902" y="2472531"/>
                      <a:pt x="2604302" y="2382361"/>
                      <a:pt x="2628432" y="2294731"/>
                    </a:cubicBezTo>
                    <a:cubicBezTo>
                      <a:pt x="2653832" y="2204561"/>
                      <a:pt x="2670342" y="2114391"/>
                      <a:pt x="2681772" y="2016601"/>
                    </a:cubicBezTo>
                    <a:cubicBezTo>
                      <a:pt x="2695742" y="1908651"/>
                      <a:pt x="2700822" y="1760061"/>
                      <a:pt x="2699552" y="1671161"/>
                    </a:cubicBezTo>
                    <a:cubicBezTo>
                      <a:pt x="2699552" y="1616551"/>
                      <a:pt x="2694472" y="1583531"/>
                      <a:pt x="2690662" y="1539081"/>
                    </a:cubicBezTo>
                    <a:cubicBezTo>
                      <a:pt x="2686852" y="1493361"/>
                      <a:pt x="2690662" y="1456531"/>
                      <a:pt x="2675422" y="1403191"/>
                    </a:cubicBezTo>
                    <a:cubicBezTo>
                      <a:pt x="2651292" y="1316831"/>
                      <a:pt x="2573822" y="1180941"/>
                      <a:pt x="2521752" y="1081881"/>
                    </a:cubicBezTo>
                    <a:cubicBezTo>
                      <a:pt x="2477302" y="992981"/>
                      <a:pt x="2439202" y="915511"/>
                      <a:pt x="2387132" y="832961"/>
                    </a:cubicBezTo>
                    <a:cubicBezTo>
                      <a:pt x="2328712" y="742791"/>
                      <a:pt x="2255052" y="633571"/>
                      <a:pt x="2183932" y="562451"/>
                    </a:cubicBezTo>
                    <a:cubicBezTo>
                      <a:pt x="2125512" y="504031"/>
                      <a:pt x="2070902" y="471011"/>
                      <a:pt x="2001052" y="426561"/>
                    </a:cubicBezTo>
                    <a:cubicBezTo>
                      <a:pt x="1917232" y="374491"/>
                      <a:pt x="1794042" y="308451"/>
                      <a:pt x="1715302" y="274161"/>
                    </a:cubicBezTo>
                    <a:cubicBezTo>
                      <a:pt x="1661962" y="251301"/>
                      <a:pt x="1635292" y="242411"/>
                      <a:pt x="1578142" y="228441"/>
                    </a:cubicBezTo>
                    <a:cubicBezTo>
                      <a:pt x="1485432" y="204311"/>
                      <a:pt x="1292392" y="170021"/>
                      <a:pt x="1207302" y="161131"/>
                    </a:cubicBezTo>
                    <a:cubicBezTo>
                      <a:pt x="1162852" y="157321"/>
                      <a:pt x="1137452" y="156051"/>
                      <a:pt x="1104432" y="158591"/>
                    </a:cubicBezTo>
                    <a:cubicBezTo>
                      <a:pt x="1075222" y="162401"/>
                      <a:pt x="1053632" y="166211"/>
                      <a:pt x="1018072" y="176371"/>
                    </a:cubicBezTo>
                    <a:cubicBezTo>
                      <a:pt x="957112" y="194151"/>
                      <a:pt x="842812" y="225901"/>
                      <a:pt x="776772" y="266541"/>
                    </a:cubicBezTo>
                    <a:cubicBezTo>
                      <a:pt x="719622" y="300831"/>
                      <a:pt x="675172" y="342741"/>
                      <a:pt x="637072" y="393541"/>
                    </a:cubicBezTo>
                    <a:cubicBezTo>
                      <a:pt x="596432" y="449421"/>
                      <a:pt x="567222" y="524351"/>
                      <a:pt x="543092" y="591661"/>
                    </a:cubicBezTo>
                    <a:cubicBezTo>
                      <a:pt x="518962" y="657701"/>
                      <a:pt x="518962" y="756761"/>
                      <a:pt x="488482" y="794861"/>
                    </a:cubicBezTo>
                    <a:cubicBezTo>
                      <a:pt x="469432" y="817721"/>
                      <a:pt x="440222" y="829151"/>
                      <a:pt x="418632" y="830421"/>
                    </a:cubicBezTo>
                    <a:cubicBezTo>
                      <a:pt x="400852" y="831691"/>
                      <a:pt x="381802" y="824071"/>
                      <a:pt x="369102" y="812641"/>
                    </a:cubicBezTo>
                    <a:cubicBezTo>
                      <a:pt x="355132" y="802481"/>
                      <a:pt x="342432" y="785971"/>
                      <a:pt x="339892" y="768191"/>
                    </a:cubicBezTo>
                    <a:cubicBezTo>
                      <a:pt x="336082" y="747871"/>
                      <a:pt x="344972" y="709771"/>
                      <a:pt x="357672" y="693261"/>
                    </a:cubicBezTo>
                    <a:cubicBezTo>
                      <a:pt x="367832" y="678021"/>
                      <a:pt x="385612" y="667861"/>
                      <a:pt x="403392" y="666591"/>
                    </a:cubicBezTo>
                    <a:cubicBezTo>
                      <a:pt x="424982" y="662781"/>
                      <a:pt x="461812" y="671671"/>
                      <a:pt x="478322" y="688181"/>
                    </a:cubicBezTo>
                    <a:cubicBezTo>
                      <a:pt x="494832" y="703421"/>
                      <a:pt x="503722" y="740251"/>
                      <a:pt x="502452" y="761841"/>
                    </a:cubicBezTo>
                    <a:cubicBezTo>
                      <a:pt x="499912" y="779621"/>
                      <a:pt x="488482" y="797401"/>
                      <a:pt x="475782" y="808831"/>
                    </a:cubicBezTo>
                    <a:cubicBezTo>
                      <a:pt x="464352" y="820261"/>
                      <a:pt x="445302" y="830421"/>
                      <a:pt x="427522" y="830421"/>
                    </a:cubicBezTo>
                    <a:cubicBezTo>
                      <a:pt x="405932" y="830421"/>
                      <a:pt x="370372" y="816451"/>
                      <a:pt x="356402" y="799941"/>
                    </a:cubicBezTo>
                    <a:cubicBezTo>
                      <a:pt x="343702" y="787241"/>
                      <a:pt x="337352" y="774541"/>
                      <a:pt x="337352" y="750411"/>
                    </a:cubicBezTo>
                    <a:cubicBezTo>
                      <a:pt x="334812" y="698341"/>
                      <a:pt x="386882" y="548481"/>
                      <a:pt x="414822" y="487521"/>
                    </a:cubicBezTo>
                    <a:cubicBezTo>
                      <a:pt x="431332" y="451961"/>
                      <a:pt x="454192" y="436721"/>
                      <a:pt x="466892" y="410051"/>
                    </a:cubicBezTo>
                    <a:cubicBezTo>
                      <a:pt x="478322" y="384651"/>
                      <a:pt x="470702" y="357981"/>
                      <a:pt x="488482" y="328771"/>
                    </a:cubicBezTo>
                    <a:cubicBezTo>
                      <a:pt x="515152" y="281781"/>
                      <a:pt x="582462" y="215741"/>
                      <a:pt x="643422" y="172561"/>
                    </a:cubicBezTo>
                    <a:cubicBezTo>
                      <a:pt x="709462" y="126841"/>
                      <a:pt x="800902" y="93821"/>
                      <a:pt x="872022" y="64611"/>
                    </a:cubicBezTo>
                    <a:cubicBezTo>
                      <a:pt x="931712" y="39211"/>
                      <a:pt x="982512" y="12541"/>
                      <a:pt x="1042202" y="3651"/>
                    </a:cubicBezTo>
                    <a:cubicBezTo>
                      <a:pt x="1103162" y="-5239"/>
                      <a:pt x="1155232" y="3651"/>
                      <a:pt x="1231432" y="13811"/>
                    </a:cubicBezTo>
                    <a:cubicBezTo>
                      <a:pt x="1352082" y="29051"/>
                      <a:pt x="1576872" y="73501"/>
                      <a:pt x="1692442" y="109061"/>
                    </a:cubicBezTo>
                    <a:cubicBezTo>
                      <a:pt x="1766102" y="131921"/>
                      <a:pt x="1800392" y="147161"/>
                      <a:pt x="1866432" y="182721"/>
                    </a:cubicBezTo>
                    <a:cubicBezTo>
                      <a:pt x="1966762" y="234791"/>
                      <a:pt x="2147102" y="350361"/>
                      <a:pt x="2227112" y="413861"/>
                    </a:cubicBezTo>
                    <a:cubicBezTo>
                      <a:pt x="2270292" y="448151"/>
                      <a:pt x="2285532" y="462121"/>
                      <a:pt x="2321092" y="505301"/>
                    </a:cubicBezTo>
                    <a:cubicBezTo>
                      <a:pt x="2383322" y="580231"/>
                      <a:pt x="2478572" y="728821"/>
                      <a:pt x="2543342" y="840581"/>
                    </a:cubicBezTo>
                    <a:cubicBezTo>
                      <a:pt x="2603032" y="943451"/>
                      <a:pt x="2655102" y="1053941"/>
                      <a:pt x="2699552" y="1151731"/>
                    </a:cubicBezTo>
                    <a:cubicBezTo>
                      <a:pt x="2738922" y="1234281"/>
                      <a:pt x="2778292" y="1302861"/>
                      <a:pt x="2798612" y="1387951"/>
                    </a:cubicBezTo>
                    <a:cubicBezTo>
                      <a:pt x="2821472" y="1476851"/>
                      <a:pt x="2824012" y="1573371"/>
                      <a:pt x="2827822" y="1673701"/>
                    </a:cubicBezTo>
                    <a:cubicBezTo>
                      <a:pt x="2832902" y="1788001"/>
                      <a:pt x="2832902" y="1922621"/>
                      <a:pt x="2821472" y="2039461"/>
                    </a:cubicBezTo>
                    <a:cubicBezTo>
                      <a:pt x="2810042" y="2147411"/>
                      <a:pt x="2789722" y="2251551"/>
                      <a:pt x="2761782" y="2351881"/>
                    </a:cubicBezTo>
                    <a:cubicBezTo>
                      <a:pt x="2735112" y="2448401"/>
                      <a:pt x="2698282" y="2558891"/>
                      <a:pt x="2657642" y="2631281"/>
                    </a:cubicBezTo>
                    <a:cubicBezTo>
                      <a:pt x="2628432" y="2685891"/>
                      <a:pt x="2600492" y="2718911"/>
                      <a:pt x="2561122" y="2759551"/>
                    </a:cubicBezTo>
                    <a:cubicBezTo>
                      <a:pt x="2515402" y="2807811"/>
                      <a:pt x="2460792" y="2857341"/>
                      <a:pt x="2393482" y="2900521"/>
                    </a:cubicBezTo>
                    <a:cubicBezTo>
                      <a:pt x="2312202" y="2953861"/>
                      <a:pt x="2190282" y="3016091"/>
                      <a:pt x="2100112" y="3047841"/>
                    </a:cubicBezTo>
                    <a:cubicBezTo>
                      <a:pt x="2028992" y="3073241"/>
                      <a:pt x="1985812" y="3082131"/>
                      <a:pt x="1899452" y="3091021"/>
                    </a:cubicBezTo>
                    <a:cubicBezTo>
                      <a:pt x="1748322" y="3107531"/>
                      <a:pt x="1400342" y="3107531"/>
                      <a:pt x="1268262" y="3092291"/>
                    </a:cubicBezTo>
                    <a:cubicBezTo>
                      <a:pt x="1206032" y="3085941"/>
                      <a:pt x="1171742" y="3078321"/>
                      <a:pt x="1133642" y="3060541"/>
                    </a:cubicBezTo>
                    <a:cubicBezTo>
                      <a:pt x="1101892" y="3045301"/>
                      <a:pt x="1082842" y="3018631"/>
                      <a:pt x="1051092" y="2999581"/>
                    </a:cubicBezTo>
                    <a:cubicBezTo>
                      <a:pt x="1015532" y="2977991"/>
                      <a:pt x="968542" y="2971641"/>
                      <a:pt x="930442" y="2942431"/>
                    </a:cubicBezTo>
                    <a:cubicBezTo>
                      <a:pt x="882182" y="2906871"/>
                      <a:pt x="833922" y="2825591"/>
                      <a:pt x="795822" y="2788761"/>
                    </a:cubicBezTo>
                    <a:cubicBezTo>
                      <a:pt x="771692" y="2765901"/>
                      <a:pt x="755182" y="2763361"/>
                      <a:pt x="732322" y="2737961"/>
                    </a:cubicBezTo>
                    <a:cubicBezTo>
                      <a:pt x="687872" y="2689701"/>
                      <a:pt x="631992" y="2586831"/>
                      <a:pt x="571032" y="2506821"/>
                    </a:cubicBezTo>
                    <a:cubicBezTo>
                      <a:pt x="499912" y="2411571"/>
                      <a:pt x="398312" y="2307431"/>
                      <a:pt x="327192" y="2207101"/>
                    </a:cubicBezTo>
                    <a:cubicBezTo>
                      <a:pt x="263692" y="2118201"/>
                      <a:pt x="210352" y="2002631"/>
                      <a:pt x="163362" y="1940401"/>
                    </a:cubicBezTo>
                    <a:cubicBezTo>
                      <a:pt x="134152" y="1902301"/>
                      <a:pt x="107482" y="1884521"/>
                      <a:pt x="85892" y="1854041"/>
                    </a:cubicBezTo>
                    <a:cubicBezTo>
                      <a:pt x="65572" y="1827371"/>
                      <a:pt x="49062" y="1803241"/>
                      <a:pt x="36362" y="1771491"/>
                    </a:cubicBezTo>
                    <a:cubicBezTo>
                      <a:pt x="21122" y="1737201"/>
                      <a:pt x="9692" y="1700371"/>
                      <a:pt x="3342" y="1657191"/>
                    </a:cubicBezTo>
                    <a:cubicBezTo>
                      <a:pt x="-4278" y="1602581"/>
                      <a:pt x="3342" y="1534001"/>
                      <a:pt x="4612" y="1473041"/>
                    </a:cubicBezTo>
                    <a:cubicBezTo>
                      <a:pt x="4612" y="1412081"/>
                      <a:pt x="3342" y="1347311"/>
                      <a:pt x="8422" y="1293971"/>
                    </a:cubicBezTo>
                    <a:cubicBezTo>
                      <a:pt x="12232" y="1248251"/>
                      <a:pt x="13502" y="1208881"/>
                      <a:pt x="28742" y="1168241"/>
                    </a:cubicBezTo>
                    <a:cubicBezTo>
                      <a:pt x="43982" y="1126331"/>
                      <a:pt x="68112" y="1093311"/>
                      <a:pt x="98592" y="1045051"/>
                    </a:cubicBezTo>
                    <a:cubicBezTo>
                      <a:pt x="148122" y="968851"/>
                      <a:pt x="243372" y="825341"/>
                      <a:pt x="297982" y="760571"/>
                    </a:cubicBezTo>
                    <a:cubicBezTo>
                      <a:pt x="331002" y="723741"/>
                      <a:pt x="347512" y="709771"/>
                      <a:pt x="384342" y="681831"/>
                    </a:cubicBezTo>
                    <a:cubicBezTo>
                      <a:pt x="436412" y="639921"/>
                      <a:pt x="521502" y="596741"/>
                      <a:pt x="591352" y="548481"/>
                    </a:cubicBezTo>
                    <a:cubicBezTo>
                      <a:pt x="667552" y="495141"/>
                      <a:pt x="767882" y="396081"/>
                      <a:pt x="825032" y="371951"/>
                    </a:cubicBezTo>
                    <a:cubicBezTo>
                      <a:pt x="852972" y="360521"/>
                      <a:pt x="874562" y="356711"/>
                      <a:pt x="893612" y="363061"/>
                    </a:cubicBezTo>
                    <a:cubicBezTo>
                      <a:pt x="910122" y="366871"/>
                      <a:pt x="926632" y="382111"/>
                      <a:pt x="934252" y="397351"/>
                    </a:cubicBezTo>
                    <a:cubicBezTo>
                      <a:pt x="943142" y="411321"/>
                      <a:pt x="945682" y="434181"/>
                      <a:pt x="941872" y="450691"/>
                    </a:cubicBezTo>
                    <a:cubicBezTo>
                      <a:pt x="938062" y="465931"/>
                      <a:pt x="912662" y="495141"/>
                      <a:pt x="912662" y="495141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TextBox 8" id="8"/>
          <p:cNvSpPr txBox="true"/>
          <p:nvPr/>
        </p:nvSpPr>
        <p:spPr>
          <a:xfrm rot="0">
            <a:off x="5643392" y="8720455"/>
            <a:ext cx="300493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26C86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pF=log10​(mbar)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83454" y="288215"/>
            <a:ext cx="9310907" cy="3614487"/>
            <a:chOff x="0" y="0"/>
            <a:chExt cx="12414543" cy="48193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1271" y="0"/>
              <a:ext cx="12192000" cy="3893820"/>
            </a:xfrm>
            <a:custGeom>
              <a:avLst/>
              <a:gdLst/>
              <a:ahLst/>
              <a:cxnLst/>
              <a:rect r="r" b="b" t="t" l="l"/>
              <a:pathLst>
                <a:path h="38938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3893820"/>
                  </a:lnTo>
                  <a:lnTo>
                    <a:pt x="0" y="3893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4338845"/>
              <a:ext cx="12414543" cy="480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142" i="true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Variation de la  Resistance des capteurs en fonction du pF et du temps 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049473" y="415224"/>
            <a:ext cx="598859" cy="2793357"/>
          </a:xfrm>
          <a:custGeom>
            <a:avLst/>
            <a:gdLst/>
            <a:ahLst/>
            <a:cxnLst/>
            <a:rect r="r" b="b" t="t" l="l"/>
            <a:pathLst>
              <a:path h="2793357" w="598859">
                <a:moveTo>
                  <a:pt x="0" y="0"/>
                </a:moveTo>
                <a:lnTo>
                  <a:pt x="598859" y="0"/>
                </a:lnTo>
                <a:lnTo>
                  <a:pt x="598859" y="2793356"/>
                </a:lnTo>
                <a:lnTo>
                  <a:pt x="0" y="27933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3315" t="-13999" r="-43654" b="-50428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934961"/>
            <a:ext cx="9144000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Watermark et capteur 4 dans les memes conditions et gamme de mesure </a:t>
            </a:r>
          </a:p>
          <a:p>
            <a:pPr algn="l">
              <a:lnSpc>
                <a:spcPts val="266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288215"/>
            <a:ext cx="18147528" cy="6288867"/>
            <a:chOff x="0" y="0"/>
            <a:chExt cx="24196704" cy="83851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96704" cy="7727822"/>
            </a:xfrm>
            <a:custGeom>
              <a:avLst/>
              <a:gdLst/>
              <a:ahLst/>
              <a:cxnLst/>
              <a:rect r="r" b="b" t="t" l="l"/>
              <a:pathLst>
                <a:path h="7727822" w="24196704">
                  <a:moveTo>
                    <a:pt x="0" y="0"/>
                  </a:moveTo>
                  <a:lnTo>
                    <a:pt x="24196704" y="0"/>
                  </a:lnTo>
                  <a:lnTo>
                    <a:pt x="24196704" y="7727822"/>
                  </a:lnTo>
                  <a:lnTo>
                    <a:pt x="0" y="7727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1466753" y="431009"/>
              <a:ext cx="1545647" cy="6734278"/>
            </a:xfrm>
            <a:custGeom>
              <a:avLst/>
              <a:gdLst/>
              <a:ahLst/>
              <a:cxnLst/>
              <a:rect r="r" b="b" t="t" l="l"/>
              <a:pathLst>
                <a:path h="6734278" w="1545647">
                  <a:moveTo>
                    <a:pt x="0" y="0"/>
                  </a:moveTo>
                  <a:lnTo>
                    <a:pt x="1545647" y="0"/>
                  </a:lnTo>
                  <a:lnTo>
                    <a:pt x="1545647" y="6734278"/>
                  </a:lnTo>
                  <a:lnTo>
                    <a:pt x="0" y="6734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947" t="-30033" r="-32968" b="-329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6664683" y="7882025"/>
              <a:ext cx="14802070" cy="503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b="true" sz="2300" i="true" u="sng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Variation de la Resistance des capteurs en fonction du pF et du temps(90h)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94533" y="6577154"/>
            <a:ext cx="4657130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Référence de  825000 ohms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Watermark à la position 8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552" y="-105263"/>
            <a:ext cx="18288000" cy="8061503"/>
            <a:chOff x="0" y="0"/>
            <a:chExt cx="24384000" cy="107486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7604760"/>
            </a:xfrm>
            <a:custGeom>
              <a:avLst/>
              <a:gdLst/>
              <a:ahLst/>
              <a:cxnLst/>
              <a:rect r="r" b="b" t="t" l="l"/>
              <a:pathLst>
                <a:path h="76047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04760"/>
                  </a:lnTo>
                  <a:lnTo>
                    <a:pt x="0" y="7604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6176469">
              <a:off x="14791281" y="1390295"/>
              <a:ext cx="857829" cy="243312"/>
            </a:xfrm>
            <a:custGeom>
              <a:avLst/>
              <a:gdLst/>
              <a:ahLst/>
              <a:cxnLst/>
              <a:rect r="r" b="b" t="t" l="l"/>
              <a:pathLst>
                <a:path h="243312" w="857829">
                  <a:moveTo>
                    <a:pt x="0" y="0"/>
                  </a:moveTo>
                  <a:lnTo>
                    <a:pt x="857829" y="0"/>
                  </a:lnTo>
                  <a:lnTo>
                    <a:pt x="857829" y="243312"/>
                  </a:lnTo>
                  <a:lnTo>
                    <a:pt x="0" y="24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333869">
              <a:off x="21856467" y="1556395"/>
              <a:ext cx="929499" cy="263640"/>
            </a:xfrm>
            <a:custGeom>
              <a:avLst/>
              <a:gdLst/>
              <a:ahLst/>
              <a:cxnLst/>
              <a:rect r="r" b="b" t="t" l="l"/>
              <a:pathLst>
                <a:path h="263640" w="929499">
                  <a:moveTo>
                    <a:pt x="0" y="0"/>
                  </a:moveTo>
                  <a:lnTo>
                    <a:pt x="929499" y="0"/>
                  </a:lnTo>
                  <a:lnTo>
                    <a:pt x="929499" y="263640"/>
                  </a:lnTo>
                  <a:lnTo>
                    <a:pt x="0" y="263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8912444" y="10225854"/>
              <a:ext cx="127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00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4487057" y="2059356"/>
              <a:ext cx="1895520" cy="492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0"/>
                </a:lnSpc>
              </a:pPr>
              <a:r>
                <a:rPr lang="en-US" sz="225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Référence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859703" y="1473851"/>
              <a:ext cx="1986172" cy="492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0"/>
                </a:lnSpc>
              </a:pPr>
              <a:r>
                <a:rPr lang="en-US" sz="225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WaterMark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07532" y="7776210"/>
              <a:ext cx="23368936" cy="666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b="true" sz="3000" i="true" u="sng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Variation des Résistances capteurs sur une durée de 90H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3977" y="2557372"/>
            <a:ext cx="11172220" cy="1488487"/>
          </a:xfrm>
          <a:custGeom>
            <a:avLst/>
            <a:gdLst/>
            <a:ahLst/>
            <a:cxnLst/>
            <a:rect r="r" b="b" t="t" l="l"/>
            <a:pathLst>
              <a:path h="1488487" w="11172220">
                <a:moveTo>
                  <a:pt x="0" y="0"/>
                </a:moveTo>
                <a:lnTo>
                  <a:pt x="11172220" y="0"/>
                </a:lnTo>
                <a:lnTo>
                  <a:pt x="11172220" y="1488487"/>
                </a:lnTo>
                <a:lnTo>
                  <a:pt x="0" y="14884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63" r="0" b="-6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977" y="4278221"/>
            <a:ext cx="11172220" cy="1488487"/>
          </a:xfrm>
          <a:custGeom>
            <a:avLst/>
            <a:gdLst/>
            <a:ahLst/>
            <a:cxnLst/>
            <a:rect r="r" b="b" t="t" l="l"/>
            <a:pathLst>
              <a:path h="1488487" w="11172220">
                <a:moveTo>
                  <a:pt x="0" y="0"/>
                </a:moveTo>
                <a:lnTo>
                  <a:pt x="11172220" y="0"/>
                </a:lnTo>
                <a:lnTo>
                  <a:pt x="11172220" y="1488488"/>
                </a:lnTo>
                <a:lnTo>
                  <a:pt x="0" y="148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63" r="0" b="-6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3977" y="6005879"/>
            <a:ext cx="11172220" cy="1502269"/>
          </a:xfrm>
          <a:custGeom>
            <a:avLst/>
            <a:gdLst/>
            <a:ahLst/>
            <a:cxnLst/>
            <a:rect r="r" b="b" t="t" l="l"/>
            <a:pathLst>
              <a:path h="1502269" w="11172220">
                <a:moveTo>
                  <a:pt x="0" y="0"/>
                </a:moveTo>
                <a:lnTo>
                  <a:pt x="11172220" y="0"/>
                </a:lnTo>
                <a:lnTo>
                  <a:pt x="11172220" y="1502269"/>
                </a:lnTo>
                <a:lnTo>
                  <a:pt x="0" y="1502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63" r="0" b="-6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3977" y="747964"/>
            <a:ext cx="11172220" cy="1571181"/>
          </a:xfrm>
          <a:custGeom>
            <a:avLst/>
            <a:gdLst/>
            <a:ahLst/>
            <a:cxnLst/>
            <a:rect r="r" b="b" t="t" l="l"/>
            <a:pathLst>
              <a:path h="1571181" w="11172220">
                <a:moveTo>
                  <a:pt x="0" y="0"/>
                </a:moveTo>
                <a:lnTo>
                  <a:pt x="11172220" y="0"/>
                </a:lnTo>
                <a:lnTo>
                  <a:pt x="11172220" y="1571181"/>
                </a:lnTo>
                <a:lnTo>
                  <a:pt x="0" y="157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63" r="0" b="-6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769957"/>
            <a:ext cx="2440982" cy="5063316"/>
          </a:xfrm>
          <a:custGeom>
            <a:avLst/>
            <a:gdLst/>
            <a:ahLst/>
            <a:cxnLst/>
            <a:rect r="r" b="b" t="t" l="l"/>
            <a:pathLst>
              <a:path h="5063316" w="2440982">
                <a:moveTo>
                  <a:pt x="0" y="0"/>
                </a:moveTo>
                <a:lnTo>
                  <a:pt x="2440982" y="0"/>
                </a:lnTo>
                <a:lnTo>
                  <a:pt x="2440982" y="5063316"/>
                </a:lnTo>
                <a:lnTo>
                  <a:pt x="0" y="50633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w="104775" cap="sq">
            <a:solidFill>
              <a:srgbClr val="F3110E"/>
            </a:solidFill>
            <a:prstDash val="sysDot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7127774">
            <a:off x="1008529" y="8081251"/>
            <a:ext cx="1571590" cy="445760"/>
          </a:xfrm>
          <a:custGeom>
            <a:avLst/>
            <a:gdLst/>
            <a:ahLst/>
            <a:cxnLst/>
            <a:rect r="r" b="b" t="t" l="l"/>
            <a:pathLst>
              <a:path h="445760" w="1571590">
                <a:moveTo>
                  <a:pt x="0" y="0"/>
                </a:moveTo>
                <a:lnTo>
                  <a:pt x="1571590" y="0"/>
                </a:lnTo>
                <a:lnTo>
                  <a:pt x="1571590" y="445760"/>
                </a:lnTo>
                <a:lnTo>
                  <a:pt x="0" y="4457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4099096" y="2748008"/>
            <a:ext cx="353403" cy="3085265"/>
          </a:xfrm>
          <a:custGeom>
            <a:avLst/>
            <a:gdLst/>
            <a:ahLst/>
            <a:cxnLst/>
            <a:rect r="r" b="b" t="t" l="l"/>
            <a:pathLst>
              <a:path h="3085265" w="353403">
                <a:moveTo>
                  <a:pt x="0" y="0"/>
                </a:moveTo>
                <a:lnTo>
                  <a:pt x="353403" y="0"/>
                </a:lnTo>
                <a:lnTo>
                  <a:pt x="353403" y="3085265"/>
                </a:lnTo>
                <a:lnTo>
                  <a:pt x="0" y="30852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028833" y="1431005"/>
            <a:ext cx="3423665" cy="97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Référence 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825kΩ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13267" y="2957076"/>
            <a:ext cx="2411020" cy="97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26C867"/>
                </a:solidFill>
                <a:latin typeface="Open Sans"/>
                <a:ea typeface="Open Sans"/>
                <a:cs typeface="Open Sans"/>
                <a:sym typeface="Open Sans"/>
              </a:rPr>
              <a:t>Watermark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⌉5kΩ;20kΩ⌈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3267" y="4339202"/>
            <a:ext cx="2411020" cy="97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26C867"/>
                </a:solidFill>
                <a:latin typeface="Open Sans"/>
                <a:ea typeface="Open Sans"/>
                <a:cs typeface="Open Sans"/>
                <a:sym typeface="Open Sans"/>
              </a:rPr>
              <a:t>Capteur4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⌉7kΩ;22kΩ⌈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3267" y="6116620"/>
            <a:ext cx="2411020" cy="97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Capteur2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⌉4kΩ;18kΩ⌈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04899" y="4043224"/>
            <a:ext cx="3393182" cy="42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Dans  le même bêcher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6070" y="9033438"/>
            <a:ext cx="334397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bruit de mesure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867569" y="9852553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73009" y="1028700"/>
            <a:ext cx="11749552" cy="4114800"/>
            <a:chOff x="0" y="0"/>
            <a:chExt cx="15666069" cy="548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434625" y="0"/>
              <a:ext cx="11231445" cy="5486400"/>
            </a:xfrm>
            <a:custGeom>
              <a:avLst/>
              <a:gdLst/>
              <a:ahLst/>
              <a:cxnLst/>
              <a:rect r="r" b="b" t="t" l="l"/>
              <a:pathLst>
                <a:path h="5486400" w="11231445">
                  <a:moveTo>
                    <a:pt x="0" y="0"/>
                  </a:moveTo>
                  <a:lnTo>
                    <a:pt x="11231444" y="0"/>
                  </a:lnTo>
                  <a:lnTo>
                    <a:pt x="1123144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AutoShape 7" id="7"/>
            <p:cNvSpPr/>
            <p:nvPr/>
          </p:nvSpPr>
          <p:spPr>
            <a:xfrm>
              <a:off x="2678356" y="3800213"/>
              <a:ext cx="3367008" cy="811707"/>
            </a:xfrm>
            <a:prstGeom prst="line">
              <a:avLst/>
            </a:prstGeom>
            <a:ln cap="flat" w="46222">
              <a:solidFill>
                <a:srgbClr val="0EAEF3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2678356" y="1553539"/>
              <a:ext cx="4236023" cy="2246675"/>
            </a:xfrm>
            <a:prstGeom prst="line">
              <a:avLst/>
            </a:prstGeom>
            <a:ln cap="flat" w="46222">
              <a:solidFill>
                <a:srgbClr val="0EAEF3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3618721"/>
              <a:ext cx="2678356" cy="334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Parasites de mesures 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032847" y="5133975"/>
            <a:ext cx="8189714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variation de la référence (Résistance fixe) en fonction du temps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3009" y="5957553"/>
            <a:ext cx="5541566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 de précision sur les mesures 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Variation des mesures trop importante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17622" y="103505"/>
            <a:ext cx="926861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Analyse de la référence fixe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29796" y="5795605"/>
            <a:ext cx="3688799" cy="1125265"/>
            <a:chOff x="0" y="0"/>
            <a:chExt cx="4918399" cy="15003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91333" y="422571"/>
              <a:ext cx="2836921" cy="1077782"/>
            </a:xfrm>
            <a:custGeom>
              <a:avLst/>
              <a:gdLst/>
              <a:ahLst/>
              <a:cxnLst/>
              <a:rect r="r" b="b" t="t" l="l"/>
              <a:pathLst>
                <a:path h="1077782" w="2836921">
                  <a:moveTo>
                    <a:pt x="0" y="0"/>
                  </a:moveTo>
                  <a:lnTo>
                    <a:pt x="2836921" y="0"/>
                  </a:lnTo>
                  <a:lnTo>
                    <a:pt x="2836921" y="1077782"/>
                  </a:lnTo>
                  <a:lnTo>
                    <a:pt x="0" y="1077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128254" y="691529"/>
              <a:ext cx="1790145" cy="499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94"/>
                </a:lnSpc>
                <a:spcBef>
                  <a:spcPct val="0"/>
                </a:spcBef>
              </a:pPr>
              <a:r>
                <a:rPr lang="en-US" b="true" sz="228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≈</a:t>
              </a:r>
              <a:r>
                <a:rPr lang="en-US" b="true" sz="2281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0,42 %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3876931" cy="434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8"/>
                </a:lnSpc>
                <a:spcBef>
                  <a:spcPct val="0"/>
                </a:spcBef>
              </a:pPr>
              <a:r>
                <a:rPr lang="en-US" b="true" sz="1977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</a:t>
              </a:r>
              <a:r>
                <a:rPr lang="en-US" b="true" sz="1977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aux d'erreur Max: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09732" y="7197095"/>
            <a:ext cx="8538658" cy="1614710"/>
            <a:chOff x="0" y="0"/>
            <a:chExt cx="11384877" cy="215294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581326"/>
              <a:ext cx="11384877" cy="571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9"/>
                </a:lnSpc>
                <a:spcBef>
                  <a:spcPct val="0"/>
                </a:spcBef>
              </a:pPr>
              <a:r>
                <a:rPr lang="en-US" sz="258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1x 0,0042 ≈ 0 ≤ Erreur ADC ≤ 1023 x 0,0042 </a:t>
              </a:r>
              <a:r>
                <a:rPr lang="en-US" sz="258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≈ 4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45475" y="1164447"/>
              <a:ext cx="10382812" cy="474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7"/>
                </a:lnSpc>
                <a:spcBef>
                  <a:spcPct val="0"/>
                </a:spcBef>
              </a:pPr>
              <a:r>
                <a:rPr lang="en-US" b="true" sz="2169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Erreur Maximal en ADC  (Valeur numerique)</a:t>
              </a:r>
              <a:r>
                <a:rPr lang="en-US" b="true" sz="2169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29685" y="-47625"/>
              <a:ext cx="10031418" cy="583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96"/>
                </a:lnSpc>
                <a:spcBef>
                  <a:spcPct val="0"/>
                </a:spcBef>
              </a:pPr>
              <a:r>
                <a:rPr lang="en-US" sz="264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Gamme de mesures Numérique de l’ADC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387658" y="416406"/>
              <a:ext cx="6609561" cy="739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17"/>
                </a:lnSpc>
                <a:spcBef>
                  <a:spcPct val="0"/>
                </a:spcBef>
              </a:pPr>
              <a:r>
                <a:rPr lang="en-US" sz="3369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r>
                <a:rPr lang="en-US" sz="3369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≤ </a:t>
              </a:r>
              <a:r>
                <a:rPr lang="en-US" sz="3369" i="true">
                  <a:solidFill>
                    <a:srgbClr val="26C867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ADC</a:t>
              </a:r>
              <a:r>
                <a:rPr lang="en-US" sz="3369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≤ 1022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960887" y="9030880"/>
            <a:ext cx="4444305" cy="50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  <a:spcBef>
                <a:spcPct val="0"/>
              </a:spcBef>
            </a:pPr>
            <a:r>
              <a:rPr lang="en-US" b="true" sz="2966" i="true">
                <a:solidFill>
                  <a:srgbClr val="730EF3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Erreur Maximal ≈ 4 (ADC)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0964" y="1119395"/>
            <a:ext cx="6012334" cy="7736150"/>
          </a:xfrm>
          <a:custGeom>
            <a:avLst/>
            <a:gdLst/>
            <a:ahLst/>
            <a:cxnLst/>
            <a:rect r="r" b="b" t="t" l="l"/>
            <a:pathLst>
              <a:path h="7736150" w="6012334">
                <a:moveTo>
                  <a:pt x="0" y="0"/>
                </a:moveTo>
                <a:lnTo>
                  <a:pt x="6012333" y="0"/>
                </a:lnTo>
                <a:lnTo>
                  <a:pt x="6012333" y="7736150"/>
                </a:lnTo>
                <a:lnTo>
                  <a:pt x="0" y="7736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70637" y="-88158"/>
            <a:ext cx="6546727" cy="59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</a:pPr>
            <a:r>
              <a:rPr lang="en-US" sz="345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Gamme de mesure de la carte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52947" y="2129343"/>
            <a:ext cx="880050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un ADC de 1020 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 a un erreur de </a:t>
            </a:r>
            <a:r>
              <a:rPr lang="en-US" sz="3399">
                <a:solidFill>
                  <a:srgbClr val="F3110E"/>
                </a:solidFill>
                <a:latin typeface="Open Sans"/>
                <a:ea typeface="Open Sans"/>
                <a:cs typeface="Open Sans"/>
                <a:sym typeface="Open Sans"/>
              </a:rPr>
              <a:t>+- 4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 peut lire </a:t>
            </a:r>
            <a:r>
              <a:rPr lang="en-US" sz="3399">
                <a:solidFill>
                  <a:srgbClr val="F3110E"/>
                </a:solidFill>
                <a:latin typeface="Open Sans"/>
                <a:ea typeface="Open Sans"/>
                <a:cs typeface="Open Sans"/>
                <a:sym typeface="Open Sans"/>
              </a:rPr>
              <a:t>33M ohms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 </a:t>
            </a:r>
            <a:r>
              <a:rPr lang="en-US" sz="3399">
                <a:solidFill>
                  <a:srgbClr val="F3110E"/>
                </a:solidFill>
                <a:latin typeface="Open Sans"/>
                <a:ea typeface="Open Sans"/>
                <a:cs typeface="Open Sans"/>
                <a:sym typeface="Open Sans"/>
              </a:rPr>
              <a:t>50M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 </a:t>
            </a:r>
            <a:r>
              <a:rPr lang="en-US" sz="3399">
                <a:solidFill>
                  <a:srgbClr val="F3110E"/>
                </a:solidFill>
                <a:latin typeface="Open Sans"/>
                <a:ea typeface="Open Sans"/>
                <a:cs typeface="Open Sans"/>
                <a:sym typeface="Open Sans"/>
              </a:rPr>
              <a:t>100M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128383" y="1028700"/>
            <a:ext cx="9257859" cy="4522332"/>
          </a:xfrm>
          <a:custGeom>
            <a:avLst/>
            <a:gdLst/>
            <a:ahLst/>
            <a:cxnLst/>
            <a:rect r="r" b="b" t="t" l="l"/>
            <a:pathLst>
              <a:path h="4522332" w="9257859">
                <a:moveTo>
                  <a:pt x="0" y="0"/>
                </a:moveTo>
                <a:lnTo>
                  <a:pt x="9257859" y="0"/>
                </a:lnTo>
                <a:lnTo>
                  <a:pt x="9257859" y="4522332"/>
                </a:lnTo>
                <a:lnTo>
                  <a:pt x="0" y="4522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42432" y="1008303"/>
            <a:ext cx="9543809" cy="4662014"/>
          </a:xfrm>
          <a:custGeom>
            <a:avLst/>
            <a:gdLst/>
            <a:ahLst/>
            <a:cxnLst/>
            <a:rect r="r" b="b" t="t" l="l"/>
            <a:pathLst>
              <a:path h="4662014" w="9543809">
                <a:moveTo>
                  <a:pt x="0" y="0"/>
                </a:moveTo>
                <a:lnTo>
                  <a:pt x="9543810" y="0"/>
                </a:lnTo>
                <a:lnTo>
                  <a:pt x="9543810" y="4662014"/>
                </a:lnTo>
                <a:lnTo>
                  <a:pt x="0" y="4662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2806803" y="4245417"/>
            <a:ext cx="2344608" cy="622793"/>
          </a:xfrm>
          <a:prstGeom prst="line">
            <a:avLst/>
          </a:prstGeom>
          <a:ln cap="flat" w="38100">
            <a:solidFill>
              <a:srgbClr val="0EAEF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" id="7"/>
          <p:cNvSpPr/>
          <p:nvPr/>
        </p:nvSpPr>
        <p:spPr>
          <a:xfrm flipV="true">
            <a:off x="2750347" y="2309252"/>
            <a:ext cx="3422049" cy="1817052"/>
          </a:xfrm>
          <a:prstGeom prst="line">
            <a:avLst/>
          </a:prstGeom>
          <a:ln cap="flat" w="38100">
            <a:solidFill>
              <a:srgbClr val="0EAEF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12460406" y="3339310"/>
            <a:ext cx="2068440" cy="1243786"/>
          </a:xfrm>
          <a:prstGeom prst="line">
            <a:avLst/>
          </a:prstGeom>
          <a:ln cap="flat" w="38100">
            <a:solidFill>
              <a:srgbClr val="F3110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0" y="6530365"/>
            <a:ext cx="8309236" cy="2281037"/>
            <a:chOff x="0" y="0"/>
            <a:chExt cx="11078981" cy="3041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78272" y="2360580"/>
              <a:ext cx="9600709" cy="680803"/>
            </a:xfrm>
            <a:custGeom>
              <a:avLst/>
              <a:gdLst/>
              <a:ahLst/>
              <a:cxnLst/>
              <a:rect r="r" b="b" t="t" l="l"/>
              <a:pathLst>
                <a:path h="680803" w="9600709">
                  <a:moveTo>
                    <a:pt x="0" y="0"/>
                  </a:moveTo>
                  <a:lnTo>
                    <a:pt x="9600709" y="0"/>
                  </a:lnTo>
                  <a:lnTo>
                    <a:pt x="9600709" y="680803"/>
                  </a:lnTo>
                  <a:lnTo>
                    <a:pt x="0" y="680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853847"/>
              <a:ext cx="7286736" cy="49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3066" indent="-241533" lvl="1">
                <a:lnSpc>
                  <a:spcPts val="3132"/>
                </a:lnSpc>
                <a:buFont typeface="Arial"/>
                <a:buChar char="•"/>
              </a:pPr>
              <a:r>
                <a:rPr lang="en-US" sz="2237" i="true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Filtre EMA (Exponential Moving Average)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850900"/>
              <a:ext cx="3426594" cy="474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68858" indent="-234429" lvl="1">
                <a:lnSpc>
                  <a:spcPts val="3040"/>
                </a:lnSpc>
                <a:buFont typeface="Arial"/>
                <a:buChar char="•"/>
              </a:pPr>
              <a:r>
                <a:rPr lang="en-US" sz="217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un Filtre médian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13297" y="1340368"/>
              <a:ext cx="6086297" cy="49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2"/>
                </a:lnSpc>
              </a:pPr>
              <a:r>
                <a:rPr lang="en-US" sz="223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Pour supprimer les pics aberrants.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80948" y="-76200"/>
              <a:ext cx="6818645" cy="836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0"/>
                </a:lnSpc>
              </a:pPr>
              <a:r>
                <a:rPr lang="en-US" b="true" sz="3800" i="true" u="sng">
                  <a:solidFill>
                    <a:srgbClr val="26C867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Technique utilisée: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73009" y="4006519"/>
            <a:ext cx="2207716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Parasites de mesures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44944" y="5864250"/>
            <a:ext cx="781546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variation de la resistance de mesure Fixe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83810" y="4544995"/>
            <a:ext cx="4371380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E7191F"/>
                </a:solidFill>
                <a:latin typeface="Open Sans"/>
                <a:ea typeface="Open Sans"/>
                <a:cs typeface="Open Sans"/>
                <a:sym typeface="Open Sans"/>
              </a:rPr>
              <a:t>Estimation de la valeur de la référence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386498" y="6444640"/>
            <a:ext cx="6912440" cy="2197576"/>
            <a:chOff x="0" y="0"/>
            <a:chExt cx="9216587" cy="293010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2687723" y="-76200"/>
              <a:ext cx="3033316" cy="836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0"/>
                </a:lnSpc>
              </a:pPr>
              <a:r>
                <a:rPr lang="en-US" b="true" sz="3800" u="sng">
                  <a:solidFill>
                    <a:srgbClr val="26C86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Avantage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826770"/>
              <a:ext cx="9216587" cy="2103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Augmente la précision des données</a:t>
              </a: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Reduit le nombre de lecture (de 500 à 70 ) </a:t>
              </a: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Reduit la consommation énergétique </a:t>
              </a: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temps de lecture qui passe de 5,1s à 700ms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842432" y="8897128"/>
            <a:ext cx="5836007" cy="1252716"/>
            <a:chOff x="0" y="0"/>
            <a:chExt cx="7781342" cy="167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416523" y="595863"/>
              <a:ext cx="4251651" cy="1074424"/>
            </a:xfrm>
            <a:custGeom>
              <a:avLst/>
              <a:gdLst/>
              <a:ahLst/>
              <a:cxnLst/>
              <a:rect r="r" b="b" t="t" l="l"/>
              <a:pathLst>
                <a:path h="1074424" w="4251651">
                  <a:moveTo>
                    <a:pt x="0" y="0"/>
                  </a:moveTo>
                  <a:lnTo>
                    <a:pt x="4251651" y="0"/>
                  </a:lnTo>
                  <a:lnTo>
                    <a:pt x="4251651" y="1074425"/>
                  </a:lnTo>
                  <a:lnTo>
                    <a:pt x="0" y="1074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-57150"/>
              <a:ext cx="5668174" cy="637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</a:t>
              </a:r>
              <a:r>
                <a:rPr lang="en-US" b="true" sz="2891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aux d'erreur estimé: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808433" y="867223"/>
              <a:ext cx="1972909" cy="515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719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0,02105%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319162" y="130589"/>
            <a:ext cx="7156847" cy="48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7"/>
              </a:lnSpc>
              <a:spcBef>
                <a:spcPct val="0"/>
              </a:spcBef>
            </a:pPr>
            <a:r>
              <a:rPr lang="en-US" b="true" sz="28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b="true" sz="28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stimation de la valeur de la référence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23733" y="9337671"/>
            <a:ext cx="8264267" cy="42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  <a:spcBef>
                <a:spcPct val="0"/>
              </a:spcBef>
            </a:pPr>
            <a:r>
              <a:rPr lang="en-US" sz="24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1x 0,00021 ≈ </a:t>
            </a:r>
            <a:r>
              <a:rPr lang="en-US" sz="2488">
                <a:solidFill>
                  <a:srgbClr val="26C867"/>
                </a:solidFill>
                <a:latin typeface="Open Sans"/>
                <a:ea typeface="Open Sans"/>
                <a:cs typeface="Open Sans"/>
                <a:sym typeface="Open Sans"/>
              </a:rPr>
              <a:t>0 ≤ Erreur ADC Reduit≤</a:t>
            </a:r>
            <a:r>
              <a:rPr lang="en-US" sz="24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1023 x 0,00021 ≈ </a:t>
            </a:r>
            <a:r>
              <a:rPr lang="en-US" sz="2488">
                <a:solidFill>
                  <a:srgbClr val="26C867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827115" y="4274503"/>
            <a:ext cx="1063377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Bilan Énergétique 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492" y="661547"/>
            <a:ext cx="13734692" cy="8696911"/>
            <a:chOff x="0" y="0"/>
            <a:chExt cx="18312923" cy="11595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996185" y="0"/>
              <a:ext cx="5201441" cy="6781626"/>
            </a:xfrm>
            <a:custGeom>
              <a:avLst/>
              <a:gdLst/>
              <a:ahLst/>
              <a:cxnLst/>
              <a:rect r="r" b="b" t="t" l="l"/>
              <a:pathLst>
                <a:path h="6781626" w="5201441">
                  <a:moveTo>
                    <a:pt x="0" y="0"/>
                  </a:moveTo>
                  <a:lnTo>
                    <a:pt x="5201441" y="0"/>
                  </a:lnTo>
                  <a:lnTo>
                    <a:pt x="5201441" y="6781626"/>
                  </a:lnTo>
                  <a:lnTo>
                    <a:pt x="0" y="678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4035334" y="10991814"/>
              <a:ext cx="3232836" cy="6040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6"/>
                </a:lnSpc>
                <a:spcBef>
                  <a:spcPct val="0"/>
                </a:spcBef>
              </a:pPr>
              <a:r>
                <a:rPr lang="en-US" sz="2704">
                  <a:solidFill>
                    <a:srgbClr val="730EF3"/>
                  </a:solidFill>
                  <a:latin typeface="Open Sans"/>
                  <a:ea typeface="Open Sans"/>
                  <a:cs typeface="Open Sans"/>
                  <a:sym typeface="Open Sans"/>
                </a:rPr>
                <a:t>Rmes​≈99600 Ω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732976" y="9029223"/>
              <a:ext cx="14579947" cy="1870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97"/>
                </a:lnSpc>
              </a:pPr>
              <a:r>
                <a:rPr lang="en-US" sz="2712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ADC  = Valeur Numerique   </a:t>
              </a:r>
            </a:p>
            <a:p>
              <a:pPr algn="just" marL="585615" indent="-292807" lvl="1">
                <a:lnSpc>
                  <a:spcPts val="3797"/>
                </a:lnSpc>
                <a:buFont typeface="Arial"/>
                <a:buChar char="•"/>
              </a:pPr>
              <a:r>
                <a:rPr lang="en-US" sz="2712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0-1023 sur Méga  (</a:t>
              </a:r>
              <a:r>
                <a:rPr lang="en-US" sz="2712">
                  <a:solidFill>
                    <a:srgbClr val="730EF3"/>
                  </a:solidFill>
                  <a:latin typeface="Open Sans"/>
                  <a:ea typeface="Open Sans"/>
                  <a:cs typeface="Open Sans"/>
                  <a:sym typeface="Open Sans"/>
                </a:rPr>
                <a:t>4,88 mv de Precision</a:t>
              </a:r>
              <a:r>
                <a:rPr lang="en-US" sz="2712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)</a:t>
              </a:r>
            </a:p>
            <a:p>
              <a:pPr algn="just" marL="585615" indent="-292807" lvl="1">
                <a:lnSpc>
                  <a:spcPts val="3797"/>
                </a:lnSpc>
                <a:buFont typeface="Arial"/>
                <a:buChar char="•"/>
              </a:pPr>
              <a:r>
                <a:rPr lang="en-US" sz="2712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0-4095 sur ESP32 </a:t>
              </a:r>
              <a:r>
                <a:rPr lang="en-US" sz="2712">
                  <a:solidFill>
                    <a:srgbClr val="730EF3"/>
                  </a:solidFill>
                  <a:latin typeface="Open Sans"/>
                  <a:ea typeface="Open Sans"/>
                  <a:cs typeface="Open Sans"/>
                  <a:sym typeface="Open Sans"/>
                </a:rPr>
                <a:t>(1,22mv de Précision </a:t>
              </a:r>
              <a:r>
                <a:rPr lang="en-US" sz="2712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068277" y="9983592"/>
              <a:ext cx="1270510" cy="75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8"/>
                </a:lnSpc>
                <a:spcBef>
                  <a:spcPct val="0"/>
                </a:spcBef>
              </a:pPr>
              <a:r>
                <a:rPr lang="en-US" sz="3456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Avec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7283276"/>
              <a:ext cx="4777916" cy="1301447"/>
            </a:xfrm>
            <a:custGeom>
              <a:avLst/>
              <a:gdLst/>
              <a:ahLst/>
              <a:cxnLst/>
              <a:rect r="r" b="b" t="t" l="l"/>
              <a:pathLst>
                <a:path h="1301447" w="4777916">
                  <a:moveTo>
                    <a:pt x="0" y="0"/>
                  </a:moveTo>
                  <a:lnTo>
                    <a:pt x="4777916" y="0"/>
                  </a:lnTo>
                  <a:lnTo>
                    <a:pt x="4777916" y="1301447"/>
                  </a:lnTo>
                  <a:lnTo>
                    <a:pt x="0" y="1301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935807" y="7318313"/>
              <a:ext cx="5258005" cy="1266410"/>
            </a:xfrm>
            <a:custGeom>
              <a:avLst/>
              <a:gdLst/>
              <a:ahLst/>
              <a:cxnLst/>
              <a:rect r="r" b="b" t="t" l="l"/>
              <a:pathLst>
                <a:path h="1266410" w="5258005">
                  <a:moveTo>
                    <a:pt x="0" y="0"/>
                  </a:moveTo>
                  <a:lnTo>
                    <a:pt x="5258005" y="0"/>
                  </a:lnTo>
                  <a:lnTo>
                    <a:pt x="5258005" y="1266410"/>
                  </a:lnTo>
                  <a:lnTo>
                    <a:pt x="0" y="1266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633137" y="1040318"/>
            <a:ext cx="9654863" cy="4707449"/>
            <a:chOff x="0" y="0"/>
            <a:chExt cx="12873151" cy="627659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4984066" y="-66675"/>
              <a:ext cx="1264143" cy="793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9"/>
                </a:lnSpc>
              </a:pPr>
              <a:r>
                <a:rPr lang="en-US" sz="360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ADC</a:t>
              </a:r>
            </a:p>
          </p:txBody>
        </p:sp>
        <p:sp>
          <p:nvSpPr>
            <p:cNvPr name="AutoShape 12" id="12"/>
            <p:cNvSpPr/>
            <p:nvPr/>
          </p:nvSpPr>
          <p:spPr>
            <a:xfrm>
              <a:off x="6248209" y="726602"/>
              <a:ext cx="1217236" cy="913842"/>
            </a:xfrm>
            <a:prstGeom prst="line">
              <a:avLst/>
            </a:prstGeom>
            <a:ln cap="flat" w="53889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3" id="13"/>
            <p:cNvSpPr/>
            <p:nvPr/>
          </p:nvSpPr>
          <p:spPr>
            <a:xfrm flipH="true">
              <a:off x="3894397" y="712384"/>
              <a:ext cx="1112557" cy="928060"/>
            </a:xfrm>
            <a:prstGeom prst="line">
              <a:avLst/>
            </a:prstGeom>
            <a:ln cap="flat" w="53889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4" id="14"/>
            <p:cNvSpPr/>
            <p:nvPr/>
          </p:nvSpPr>
          <p:spPr>
            <a:xfrm flipH="true">
              <a:off x="3421820" y="2481028"/>
              <a:ext cx="116863" cy="959176"/>
            </a:xfrm>
            <a:prstGeom prst="line">
              <a:avLst/>
            </a:prstGeom>
            <a:ln cap="flat" w="53889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7880180" y="2480023"/>
              <a:ext cx="69830" cy="855371"/>
            </a:xfrm>
            <a:prstGeom prst="line">
              <a:avLst/>
            </a:prstGeom>
            <a:ln cap="flat" w="53889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1602344"/>
              <a:ext cx="5257800" cy="1004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9"/>
                </a:lnSpc>
              </a:pPr>
              <a:r>
                <a:rPr lang="en-US" sz="220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Proche de 1 si capteur humide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107351" y="1602344"/>
              <a:ext cx="5765800" cy="515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5"/>
                </a:lnSpc>
                <a:spcBef>
                  <a:spcPct val="0"/>
                </a:spcBef>
              </a:pPr>
              <a:r>
                <a:rPr lang="en-US" sz="239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Proche de 1022 si capteur sec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155713" y="3383054"/>
              <a:ext cx="2942417" cy="657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2"/>
                </a:lnSpc>
                <a:spcBef>
                  <a:spcPct val="0"/>
                </a:spcBef>
              </a:pPr>
              <a:r>
                <a:rPr lang="en-US" sz="29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Rcap​≈97.4 Ω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039397" y="3293908"/>
              <a:ext cx="4792741" cy="657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2"/>
                </a:lnSpc>
                <a:spcBef>
                  <a:spcPct val="0"/>
                </a:spcBef>
              </a:pPr>
              <a:r>
                <a:rPr lang="en-US" sz="29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Rcap​≈</a:t>
              </a:r>
              <a:r>
                <a:rPr lang="en-US" sz="29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101 755 200 Ω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039397" y="3894004"/>
              <a:ext cx="5360017" cy="641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44"/>
                </a:lnSpc>
                <a:spcBef>
                  <a:spcPct val="0"/>
                </a:spcBef>
              </a:pPr>
              <a:r>
                <a:rPr lang="en-US" sz="288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≈ 101,8 MΩ (très grand)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414208" y="5471504"/>
              <a:ext cx="7250378" cy="805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74"/>
                </a:lnSpc>
                <a:spcBef>
                  <a:spcPct val="0"/>
                </a:spcBef>
              </a:pPr>
              <a:r>
                <a:rPr lang="en-US" sz="3696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97.4Ω </a:t>
              </a:r>
              <a:r>
                <a:rPr lang="en-US" sz="3696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≤ </a:t>
              </a:r>
              <a:r>
                <a:rPr lang="en-US" sz="3696" i="true">
                  <a:solidFill>
                    <a:srgbClr val="26C867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Rcap </a:t>
              </a:r>
              <a:r>
                <a:rPr lang="en-US" sz="3696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≤ 101,8 MΩ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391182" y="4786425"/>
              <a:ext cx="5296429" cy="75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4"/>
                </a:lnSpc>
                <a:spcBef>
                  <a:spcPct val="0"/>
                </a:spcBef>
              </a:pPr>
              <a:r>
                <a:rPr lang="en-US" sz="339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Gamme de mesure 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870637" y="-88158"/>
            <a:ext cx="6546727" cy="59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</a:pPr>
            <a:r>
              <a:rPr lang="en-US" sz="345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Gamme de mesure de la carte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47736" y="1028700"/>
            <a:ext cx="2956883" cy="3855176"/>
          </a:xfrm>
          <a:custGeom>
            <a:avLst/>
            <a:gdLst/>
            <a:ahLst/>
            <a:cxnLst/>
            <a:rect r="r" b="b" t="t" l="l"/>
            <a:pathLst>
              <a:path h="3855176" w="2956883">
                <a:moveTo>
                  <a:pt x="0" y="0"/>
                </a:moveTo>
                <a:lnTo>
                  <a:pt x="2956882" y="0"/>
                </a:lnTo>
                <a:lnTo>
                  <a:pt x="2956882" y="3855176"/>
                </a:lnTo>
                <a:lnTo>
                  <a:pt x="0" y="3855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39569" y="5143500"/>
            <a:ext cx="4672709" cy="3987754"/>
          </a:xfrm>
          <a:custGeom>
            <a:avLst/>
            <a:gdLst/>
            <a:ahLst/>
            <a:cxnLst/>
            <a:rect r="r" b="b" t="t" l="l"/>
            <a:pathLst>
              <a:path h="3987754" w="4672709">
                <a:moveTo>
                  <a:pt x="0" y="0"/>
                </a:moveTo>
                <a:lnTo>
                  <a:pt x="4672709" y="0"/>
                </a:lnTo>
                <a:lnTo>
                  <a:pt x="4672709" y="3987754"/>
                </a:lnTo>
                <a:lnTo>
                  <a:pt x="0" y="3987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16589" y="-76200"/>
            <a:ext cx="2518668" cy="65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8"/>
              </a:lnSpc>
              <a:spcBef>
                <a:spcPct val="0"/>
              </a:spcBef>
            </a:pPr>
            <a:r>
              <a:rPr lang="en-US" b="true" sz="3806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Puissance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92223"/>
            <a:ext cx="4672709" cy="8102554"/>
            <a:chOff x="0" y="0"/>
            <a:chExt cx="6230279" cy="108034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810889" y="0"/>
              <a:ext cx="3942510" cy="5140235"/>
            </a:xfrm>
            <a:custGeom>
              <a:avLst/>
              <a:gdLst/>
              <a:ahLst/>
              <a:cxnLst/>
              <a:rect r="r" b="b" t="t" l="l"/>
              <a:pathLst>
                <a:path h="5140235" w="3942510">
                  <a:moveTo>
                    <a:pt x="0" y="0"/>
                  </a:moveTo>
                  <a:lnTo>
                    <a:pt x="3942511" y="0"/>
                  </a:lnTo>
                  <a:lnTo>
                    <a:pt x="3942511" y="5140235"/>
                  </a:lnTo>
                  <a:lnTo>
                    <a:pt x="0" y="5140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5486400"/>
              <a:ext cx="6230279" cy="5317005"/>
            </a:xfrm>
            <a:custGeom>
              <a:avLst/>
              <a:gdLst/>
              <a:ahLst/>
              <a:cxnLst/>
              <a:rect r="r" b="b" t="t" l="l"/>
              <a:pathLst>
                <a:path h="5317005" w="6230279">
                  <a:moveTo>
                    <a:pt x="0" y="0"/>
                  </a:moveTo>
                  <a:lnTo>
                    <a:pt x="6230279" y="0"/>
                  </a:lnTo>
                  <a:lnTo>
                    <a:pt x="6230279" y="5317005"/>
                  </a:lnTo>
                  <a:lnTo>
                    <a:pt x="0" y="5317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451454" y="4239457"/>
            <a:ext cx="1381423" cy="46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8"/>
              </a:lnSpc>
              <a:spcBef>
                <a:spcPct val="0"/>
              </a:spcBef>
            </a:pPr>
            <a:r>
              <a:rPr lang="en-US" sz="2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Rcap​→∞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520140" y="1268527"/>
            <a:ext cx="4672709" cy="1582692"/>
          </a:xfrm>
          <a:custGeom>
            <a:avLst/>
            <a:gdLst/>
            <a:ahLst/>
            <a:cxnLst/>
            <a:rect r="r" b="b" t="t" l="l"/>
            <a:pathLst>
              <a:path h="1582692" w="4672709">
                <a:moveTo>
                  <a:pt x="0" y="0"/>
                </a:moveTo>
                <a:lnTo>
                  <a:pt x="4672709" y="0"/>
                </a:lnTo>
                <a:lnTo>
                  <a:pt x="4672709" y="1582692"/>
                </a:lnTo>
                <a:lnTo>
                  <a:pt x="0" y="1582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0721" r="0" b="-1239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1563394" y="2851219"/>
            <a:ext cx="1307005" cy="10197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 flipH="true">
            <a:off x="10912673" y="2851219"/>
            <a:ext cx="650721" cy="9222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762465" y="4526027"/>
            <a:ext cx="3355490" cy="1321224"/>
          </a:xfrm>
          <a:custGeom>
            <a:avLst/>
            <a:gdLst/>
            <a:ahLst/>
            <a:cxnLst/>
            <a:rect r="r" b="b" t="t" l="l"/>
            <a:pathLst>
              <a:path h="1321224" w="3355490">
                <a:moveTo>
                  <a:pt x="0" y="0"/>
                </a:moveTo>
                <a:lnTo>
                  <a:pt x="3355489" y="0"/>
                </a:lnTo>
                <a:lnTo>
                  <a:pt x="3355489" y="1321224"/>
                </a:lnTo>
                <a:lnTo>
                  <a:pt x="0" y="13212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79688" y="4869509"/>
            <a:ext cx="2858016" cy="977742"/>
          </a:xfrm>
          <a:custGeom>
            <a:avLst/>
            <a:gdLst/>
            <a:ahLst/>
            <a:cxnLst/>
            <a:rect r="r" b="b" t="t" l="l"/>
            <a:pathLst>
              <a:path h="977742" w="2858016">
                <a:moveTo>
                  <a:pt x="0" y="0"/>
                </a:moveTo>
                <a:lnTo>
                  <a:pt x="2858016" y="0"/>
                </a:lnTo>
                <a:lnTo>
                  <a:pt x="2858016" y="977742"/>
                </a:lnTo>
                <a:lnTo>
                  <a:pt x="0" y="9777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60898" y="5763427"/>
            <a:ext cx="3057056" cy="695444"/>
          </a:xfrm>
          <a:custGeom>
            <a:avLst/>
            <a:gdLst/>
            <a:ahLst/>
            <a:cxnLst/>
            <a:rect r="r" b="b" t="t" l="l"/>
            <a:pathLst>
              <a:path h="695444" w="3057056">
                <a:moveTo>
                  <a:pt x="0" y="0"/>
                </a:moveTo>
                <a:lnTo>
                  <a:pt x="3057056" y="0"/>
                </a:lnTo>
                <a:lnTo>
                  <a:pt x="3057056" y="695445"/>
                </a:lnTo>
                <a:lnTo>
                  <a:pt x="0" y="6954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440209" y="4239457"/>
            <a:ext cx="1334988" cy="46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8"/>
              </a:lnSpc>
              <a:spcBef>
                <a:spcPct val="0"/>
              </a:spcBef>
            </a:pPr>
            <a:r>
              <a:rPr lang="en-US" sz="2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Rcap​→0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23830" y="6430297"/>
            <a:ext cx="2994124" cy="61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3110E"/>
                </a:solidFill>
                <a:latin typeface="Open Sans"/>
                <a:ea typeface="Open Sans"/>
                <a:cs typeface="Open Sans"/>
                <a:sym typeface="Open Sans"/>
              </a:rPr>
              <a:t>Puissance max  par capteur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3110E"/>
                </a:solidFill>
                <a:latin typeface="Open Sans"/>
                <a:ea typeface="Open Sans"/>
                <a:cs typeface="Open Sans"/>
                <a:sym typeface="Open Sans"/>
              </a:rPr>
              <a:t>pour une lecture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96757" y="3813791"/>
            <a:ext cx="2121198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Milieu humide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10229" y="3855282"/>
            <a:ext cx="1463873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Milieu sec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51224" y="3151"/>
            <a:ext cx="4512171" cy="75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6"/>
              </a:lnSpc>
            </a:pPr>
            <a:r>
              <a:rPr lang="en-US" b="true" sz="4368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Puissance limite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44574" y="4041453"/>
            <a:ext cx="8343426" cy="4448458"/>
            <a:chOff x="0" y="0"/>
            <a:chExt cx="11124567" cy="59312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580465" y="0"/>
              <a:ext cx="6177600" cy="3908736"/>
            </a:xfrm>
            <a:custGeom>
              <a:avLst/>
              <a:gdLst/>
              <a:ahLst/>
              <a:cxnLst/>
              <a:rect r="r" b="b" t="t" l="l"/>
              <a:pathLst>
                <a:path h="3908736" w="6177600">
                  <a:moveTo>
                    <a:pt x="0" y="0"/>
                  </a:moveTo>
                  <a:lnTo>
                    <a:pt x="6177600" y="0"/>
                  </a:lnTo>
                  <a:lnTo>
                    <a:pt x="6177600" y="3908736"/>
                  </a:lnTo>
                  <a:lnTo>
                    <a:pt x="0" y="3908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445111" y="4210348"/>
              <a:ext cx="2962349" cy="900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93"/>
                </a:lnSpc>
              </a:pPr>
              <a:r>
                <a:rPr lang="en-US" sz="413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pF(mbar)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87693"/>
              <a:ext cx="1381506" cy="900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93"/>
                </a:lnSpc>
              </a:pPr>
              <a:r>
                <a:rPr lang="en-US" sz="413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P(w)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226110"/>
              <a:ext cx="11124567" cy="705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69"/>
                </a:lnSpc>
              </a:pPr>
              <a:r>
                <a:rPr lang="en-US" sz="3192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Puissance d’un capteur en fonction du pF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028700"/>
            <a:ext cx="8748276" cy="7897004"/>
            <a:chOff x="0" y="0"/>
            <a:chExt cx="11664368" cy="105293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755" y="0"/>
              <a:ext cx="11660613" cy="8907237"/>
            </a:xfrm>
            <a:custGeom>
              <a:avLst/>
              <a:gdLst/>
              <a:ahLst/>
              <a:cxnLst/>
              <a:rect r="r" b="b" t="t" l="l"/>
              <a:pathLst>
                <a:path h="8907237" w="11660613">
                  <a:moveTo>
                    <a:pt x="0" y="0"/>
                  </a:moveTo>
                  <a:lnTo>
                    <a:pt x="11660613" y="0"/>
                  </a:lnTo>
                  <a:lnTo>
                    <a:pt x="11660613" y="8907237"/>
                  </a:lnTo>
                  <a:lnTo>
                    <a:pt x="0" y="8907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9233823"/>
              <a:ext cx="11664368" cy="1295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2"/>
                </a:lnSpc>
              </a:pPr>
              <a:r>
                <a:rPr lang="en-US" sz="2837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Puissance d’un capteur en fonction de la resistance capteur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432939" y="0"/>
            <a:ext cx="4672709" cy="1582692"/>
          </a:xfrm>
          <a:custGeom>
            <a:avLst/>
            <a:gdLst/>
            <a:ahLst/>
            <a:cxnLst/>
            <a:rect r="r" b="b" t="t" l="l"/>
            <a:pathLst>
              <a:path h="1582692" w="4672709">
                <a:moveTo>
                  <a:pt x="0" y="0"/>
                </a:moveTo>
                <a:lnTo>
                  <a:pt x="4672709" y="0"/>
                </a:lnTo>
                <a:lnTo>
                  <a:pt x="4672709" y="1582692"/>
                </a:lnTo>
                <a:lnTo>
                  <a:pt x="0" y="15826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0721" r="0" b="-123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030096" y="1765703"/>
            <a:ext cx="1389459" cy="59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Rcap≈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97368" y="1765703"/>
            <a:ext cx="3109615" cy="59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0;....;</a:t>
            </a: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101.8 MΩ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568007" y="1443673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0" y="3052334"/>
            <a:ext cx="8230546" cy="6455403"/>
            <a:chOff x="0" y="0"/>
            <a:chExt cx="2167716" cy="17001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7716" cy="1700188"/>
            </a:xfrm>
            <a:custGeom>
              <a:avLst/>
              <a:gdLst/>
              <a:ahLst/>
              <a:cxnLst/>
              <a:rect r="r" b="b" t="t" l="l"/>
              <a:pathLst>
                <a:path h="1700188" w="2167716">
                  <a:moveTo>
                    <a:pt x="49854" y="0"/>
                  </a:moveTo>
                  <a:lnTo>
                    <a:pt x="2117862" y="0"/>
                  </a:lnTo>
                  <a:cubicBezTo>
                    <a:pt x="2131084" y="0"/>
                    <a:pt x="2143765" y="5252"/>
                    <a:pt x="2153114" y="14602"/>
                  </a:cubicBezTo>
                  <a:cubicBezTo>
                    <a:pt x="2162464" y="23951"/>
                    <a:pt x="2167716" y="36632"/>
                    <a:pt x="2167716" y="49854"/>
                  </a:cubicBezTo>
                  <a:lnTo>
                    <a:pt x="2167716" y="1650335"/>
                  </a:lnTo>
                  <a:cubicBezTo>
                    <a:pt x="2167716" y="1677868"/>
                    <a:pt x="2145396" y="1700188"/>
                    <a:pt x="2117862" y="1700188"/>
                  </a:cubicBezTo>
                  <a:lnTo>
                    <a:pt x="49854" y="1700188"/>
                  </a:lnTo>
                  <a:cubicBezTo>
                    <a:pt x="36632" y="1700188"/>
                    <a:pt x="23951" y="1694936"/>
                    <a:pt x="14602" y="1685587"/>
                  </a:cubicBezTo>
                  <a:cubicBezTo>
                    <a:pt x="5252" y="1676237"/>
                    <a:pt x="0" y="1663557"/>
                    <a:pt x="0" y="1650335"/>
                  </a:cubicBezTo>
                  <a:lnTo>
                    <a:pt x="0" y="49854"/>
                  </a:lnTo>
                  <a:cubicBezTo>
                    <a:pt x="0" y="36632"/>
                    <a:pt x="5252" y="23951"/>
                    <a:pt x="14602" y="14602"/>
                  </a:cubicBezTo>
                  <a:cubicBezTo>
                    <a:pt x="23951" y="5252"/>
                    <a:pt x="36632" y="0"/>
                    <a:pt x="49854" y="0"/>
                  </a:cubicBezTo>
                  <a:close/>
                </a:path>
              </a:pathLst>
            </a:custGeom>
            <a:solidFill>
              <a:srgbClr val="FDFEF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67716" cy="174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7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22010" y="537527"/>
            <a:ext cx="103842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Bilan Energétique des capteurs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405" y="3190857"/>
            <a:ext cx="7960141" cy="607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puissance d’un capteur est de : </a:t>
            </a:r>
          </a:p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P = 25.25 μW</a:t>
            </a:r>
          </a:p>
          <a:p>
            <a:pPr algn="l">
              <a:lnSpc>
                <a:spcPts val="4826"/>
              </a:lnSpc>
            </a:pPr>
          </a:p>
          <a:p>
            <a:pPr algn="l" marL="744311" indent="-372155" lvl="1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une acquisition de donnée:</a:t>
            </a:r>
          </a:p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T = 10 ms</a:t>
            </a:r>
          </a:p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E = 25.25 × 0.01 ≈ 0.2525 μj</a:t>
            </a:r>
          </a:p>
          <a:p>
            <a:pPr algn="l">
              <a:lnSpc>
                <a:spcPts val="4826"/>
              </a:lnSpc>
            </a:pPr>
          </a:p>
          <a:p>
            <a:pPr algn="l" marL="744311" indent="-372155" lvl="1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5OO acquisitions de donnée</a:t>
            </a: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algn="l">
              <a:lnSpc>
                <a:spcPts val="4826"/>
              </a:lnSpc>
              <a:spcBef>
                <a:spcPct val="0"/>
              </a:spcBef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T</a:t>
            </a: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5.161 s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 = 25.25 × 5.161 ≈ </a:t>
            </a:r>
            <a:r>
              <a:rPr lang="en-US" b="true" sz="34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130 μj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470906" y="3052334"/>
            <a:ext cx="9817094" cy="5519743"/>
            <a:chOff x="0" y="0"/>
            <a:chExt cx="2585572" cy="14537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5572" cy="1453759"/>
            </a:xfrm>
            <a:custGeom>
              <a:avLst/>
              <a:gdLst/>
              <a:ahLst/>
              <a:cxnLst/>
              <a:rect r="r" b="b" t="t" l="l"/>
              <a:pathLst>
                <a:path h="1453759" w="2585572">
                  <a:moveTo>
                    <a:pt x="64667" y="0"/>
                  </a:moveTo>
                  <a:lnTo>
                    <a:pt x="2520905" y="0"/>
                  </a:lnTo>
                  <a:cubicBezTo>
                    <a:pt x="2538056" y="0"/>
                    <a:pt x="2554504" y="6813"/>
                    <a:pt x="2566632" y="18940"/>
                  </a:cubicBezTo>
                  <a:cubicBezTo>
                    <a:pt x="2578759" y="31068"/>
                    <a:pt x="2585572" y="47516"/>
                    <a:pt x="2585572" y="64667"/>
                  </a:cubicBezTo>
                  <a:lnTo>
                    <a:pt x="2585572" y="1389093"/>
                  </a:lnTo>
                  <a:cubicBezTo>
                    <a:pt x="2585572" y="1406244"/>
                    <a:pt x="2578759" y="1422692"/>
                    <a:pt x="2566632" y="1434819"/>
                  </a:cubicBezTo>
                  <a:cubicBezTo>
                    <a:pt x="2554504" y="1446946"/>
                    <a:pt x="2538056" y="1453759"/>
                    <a:pt x="2520905" y="1453759"/>
                  </a:cubicBezTo>
                  <a:lnTo>
                    <a:pt x="64667" y="1453759"/>
                  </a:lnTo>
                  <a:cubicBezTo>
                    <a:pt x="47516" y="1453759"/>
                    <a:pt x="31068" y="1446946"/>
                    <a:pt x="18940" y="1434819"/>
                  </a:cubicBezTo>
                  <a:cubicBezTo>
                    <a:pt x="6813" y="1422692"/>
                    <a:pt x="0" y="1406244"/>
                    <a:pt x="0" y="1389093"/>
                  </a:cubicBezTo>
                  <a:lnTo>
                    <a:pt x="0" y="64667"/>
                  </a:lnTo>
                  <a:cubicBezTo>
                    <a:pt x="0" y="47516"/>
                    <a:pt x="6813" y="31068"/>
                    <a:pt x="18940" y="18940"/>
                  </a:cubicBezTo>
                  <a:cubicBezTo>
                    <a:pt x="31068" y="6813"/>
                    <a:pt x="47516" y="0"/>
                    <a:pt x="64667" y="0"/>
                  </a:cubicBezTo>
                  <a:close/>
                </a:path>
              </a:pathLst>
            </a:custGeom>
            <a:solidFill>
              <a:srgbClr val="FDFE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585572" cy="1501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7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814127" y="3126073"/>
            <a:ext cx="9473873" cy="369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271" indent="-381635" lvl="1">
              <a:lnSpc>
                <a:spcPts val="4949"/>
              </a:lnSpc>
              <a:buFont typeface="Arial"/>
              <a:buChar char="•"/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huit capteurs :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= 8 × 130 ≈ </a:t>
            </a:r>
            <a:r>
              <a:rPr lang="en-US" b="true" sz="353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1042 μJ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</a:p>
          <a:p>
            <a:pPr algn="ctr" marL="763271" indent="-381635" lvl="1">
              <a:lnSpc>
                <a:spcPts val="4949"/>
              </a:lnSpc>
              <a:buFont typeface="Arial"/>
              <a:buChar char="•"/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Une mesure est effectuée toutes les heures :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 = 3600 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49594" y="1758032"/>
            <a:ext cx="7129066" cy="108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8"/>
              </a:lnSpc>
              <a:spcBef>
                <a:spcPct val="0"/>
              </a:spcBef>
            </a:pPr>
            <a:r>
              <a:rPr lang="en-US" sz="30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L´énergie consommée est donnée par :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b="true" sz="324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E(j) = P(w) × t(s)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89226" y="7093927"/>
            <a:ext cx="3884216" cy="134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8"/>
              </a:lnSpc>
              <a:spcBef>
                <a:spcPct val="0"/>
              </a:spcBef>
            </a:pPr>
            <a:r>
              <a:rPr lang="en-US" b="true" sz="3892">
                <a:solidFill>
                  <a:srgbClr val="F3110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Pmoy = E(j)/T(s) </a:t>
            </a:r>
          </a:p>
          <a:p>
            <a:pPr algn="ctr">
              <a:lnSpc>
                <a:spcPts val="5448"/>
              </a:lnSpc>
              <a:spcBef>
                <a:spcPct val="0"/>
              </a:spcBef>
            </a:pPr>
            <a:r>
              <a:rPr lang="en-US" b="true" sz="3892">
                <a:solidFill>
                  <a:srgbClr val="F3110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≈ 0.290 μW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6095" y="1063916"/>
            <a:ext cx="7727905" cy="5763688"/>
          </a:xfrm>
          <a:custGeom>
            <a:avLst/>
            <a:gdLst/>
            <a:ahLst/>
            <a:cxnLst/>
            <a:rect r="r" b="b" t="t" l="l"/>
            <a:pathLst>
              <a:path h="5763688" w="7727905">
                <a:moveTo>
                  <a:pt x="0" y="0"/>
                </a:moveTo>
                <a:lnTo>
                  <a:pt x="7727905" y="0"/>
                </a:lnTo>
                <a:lnTo>
                  <a:pt x="7727905" y="5763687"/>
                </a:lnTo>
                <a:lnTo>
                  <a:pt x="0" y="5763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71205" y="7082604"/>
            <a:ext cx="10221808" cy="2529676"/>
            <a:chOff x="0" y="0"/>
            <a:chExt cx="13629078" cy="33729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281845" y="1478822"/>
              <a:ext cx="4666659" cy="1465702"/>
            </a:xfrm>
            <a:custGeom>
              <a:avLst/>
              <a:gdLst/>
              <a:ahLst/>
              <a:cxnLst/>
              <a:rect r="r" b="b" t="t" l="l"/>
              <a:pathLst>
                <a:path h="1465702" w="4666659">
                  <a:moveTo>
                    <a:pt x="0" y="0"/>
                  </a:moveTo>
                  <a:lnTo>
                    <a:pt x="4666659" y="0"/>
                  </a:lnTo>
                  <a:lnTo>
                    <a:pt x="4666659" y="1465702"/>
                  </a:lnTo>
                  <a:lnTo>
                    <a:pt x="0" y="1465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943939" y="518908"/>
              <a:ext cx="5004565" cy="834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06"/>
                </a:lnSpc>
                <a:spcBef>
                  <a:spcPct val="0"/>
                </a:spcBef>
              </a:pPr>
              <a:r>
                <a:rPr lang="en-US" sz="3718">
                  <a:solidFill>
                    <a:srgbClr val="E7191F"/>
                  </a:solidFill>
                  <a:latin typeface="Open Sans"/>
                  <a:ea typeface="Open Sans"/>
                  <a:cs typeface="Open Sans"/>
                  <a:sym typeface="Open Sans"/>
                </a:rPr>
                <a:t>17</a:t>
              </a:r>
              <a:r>
                <a:rPr lang="en-US" sz="3718">
                  <a:solidFill>
                    <a:srgbClr val="E7191F"/>
                  </a:solidFill>
                  <a:latin typeface="Open Sans"/>
                  <a:ea typeface="Open Sans"/>
                  <a:cs typeface="Open Sans"/>
                  <a:sym typeface="Open Sans"/>
                </a:rPr>
                <a:t>10j</a:t>
              </a:r>
              <a:r>
                <a:rPr lang="en-US" sz="371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&gt;&gt;&gt;</a:t>
              </a:r>
              <a:r>
                <a:rPr lang="en-US" sz="3718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1042 μJ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13629078" cy="514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 i="true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La c</a:t>
              </a:r>
              <a:r>
                <a:rPr lang="en-US" sz="2123" i="true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onsommation de la carte est nettement supérieure à celle utilisée par les capteurs.</a:t>
              </a:r>
            </a:p>
            <a:p>
              <a:pPr algn="ctr">
                <a:lnSpc>
                  <a:spcPts val="65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913519" y="2906424"/>
              <a:ext cx="10120835" cy="466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3"/>
                </a:lnSpc>
                <a:spcBef>
                  <a:spcPct val="0"/>
                </a:spcBef>
              </a:pPr>
              <a:r>
                <a:rPr lang="en-US" sz="211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1710 J est environ 1,64 million de fois plus grand que 1042 µJ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481127" y="-350333"/>
            <a:ext cx="5970671" cy="5970671"/>
          </a:xfrm>
          <a:custGeom>
            <a:avLst/>
            <a:gdLst/>
            <a:ahLst/>
            <a:cxnLst/>
            <a:rect r="r" b="b" t="t" l="l"/>
            <a:pathLst>
              <a:path h="5970671" w="5970671">
                <a:moveTo>
                  <a:pt x="0" y="0"/>
                </a:moveTo>
                <a:lnTo>
                  <a:pt x="5970670" y="0"/>
                </a:lnTo>
                <a:lnTo>
                  <a:pt x="5970670" y="5970670"/>
                </a:lnTo>
                <a:lnTo>
                  <a:pt x="0" y="59706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45928" y="226351"/>
            <a:ext cx="1019614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Bilan Energétique de la carte Méga 2560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34821" y="5056588"/>
            <a:ext cx="4663281" cy="177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 = 3600 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 = 0.095 *5V = 0,475W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 = 0,475× 3600 ≈ </a:t>
            </a:r>
            <a:r>
              <a:rPr lang="en-US" sz="3399">
                <a:solidFill>
                  <a:srgbClr val="E7191F"/>
                </a:solidFill>
                <a:latin typeface="Lora"/>
                <a:ea typeface="Lora"/>
                <a:cs typeface="Lora"/>
                <a:sym typeface="Lora"/>
              </a:rPr>
              <a:t>1710</a:t>
            </a:r>
            <a:r>
              <a:rPr lang="en-US" sz="3399">
                <a:solidFill>
                  <a:srgbClr val="F3110E"/>
                </a:solidFill>
                <a:latin typeface="Lora"/>
                <a:ea typeface="Lora"/>
                <a:cs typeface="Lora"/>
                <a:sym typeface="Lora"/>
              </a:rPr>
              <a:t>j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24026"/>
            <a:ext cx="6815353" cy="4174404"/>
          </a:xfrm>
          <a:custGeom>
            <a:avLst/>
            <a:gdLst/>
            <a:ahLst/>
            <a:cxnLst/>
            <a:rect r="r" b="b" t="t" l="l"/>
            <a:pathLst>
              <a:path h="4174404" w="6815353">
                <a:moveTo>
                  <a:pt x="0" y="0"/>
                </a:moveTo>
                <a:lnTo>
                  <a:pt x="6815353" y="0"/>
                </a:lnTo>
                <a:lnTo>
                  <a:pt x="6815353" y="4174404"/>
                </a:lnTo>
                <a:lnTo>
                  <a:pt x="0" y="4174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0947" y="724026"/>
            <a:ext cx="6928471" cy="4174404"/>
          </a:xfrm>
          <a:custGeom>
            <a:avLst/>
            <a:gdLst/>
            <a:ahLst/>
            <a:cxnLst/>
            <a:rect r="r" b="b" t="t" l="l"/>
            <a:pathLst>
              <a:path h="4174404" w="6928471">
                <a:moveTo>
                  <a:pt x="0" y="0"/>
                </a:moveTo>
                <a:lnTo>
                  <a:pt x="6928471" y="0"/>
                </a:lnTo>
                <a:lnTo>
                  <a:pt x="6928471" y="4174404"/>
                </a:lnTo>
                <a:lnTo>
                  <a:pt x="0" y="4174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62503" y="5896906"/>
            <a:ext cx="736699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Aperçu  du capteur V4.4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403550" y="4274503"/>
            <a:ext cx="1148089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Séchage de Capteur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42833" y="1085842"/>
            <a:ext cx="7866481" cy="3842663"/>
          </a:xfrm>
          <a:custGeom>
            <a:avLst/>
            <a:gdLst/>
            <a:ahLst/>
            <a:cxnLst/>
            <a:rect r="r" b="b" t="t" l="l"/>
            <a:pathLst>
              <a:path h="3842663" w="7866481">
                <a:moveTo>
                  <a:pt x="0" y="0"/>
                </a:moveTo>
                <a:lnTo>
                  <a:pt x="7866481" y="0"/>
                </a:lnTo>
                <a:lnTo>
                  <a:pt x="7866481" y="3842663"/>
                </a:lnTo>
                <a:lnTo>
                  <a:pt x="0" y="3842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32394" y="1085842"/>
            <a:ext cx="7866481" cy="3842663"/>
          </a:xfrm>
          <a:custGeom>
            <a:avLst/>
            <a:gdLst/>
            <a:ahLst/>
            <a:cxnLst/>
            <a:rect r="r" b="b" t="t" l="l"/>
            <a:pathLst>
              <a:path h="3842663" w="7866481">
                <a:moveTo>
                  <a:pt x="0" y="0"/>
                </a:moveTo>
                <a:lnTo>
                  <a:pt x="7866481" y="0"/>
                </a:lnTo>
                <a:lnTo>
                  <a:pt x="7866481" y="3842663"/>
                </a:lnTo>
                <a:lnTo>
                  <a:pt x="0" y="3842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68988" y="5105400"/>
            <a:ext cx="5750025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 u="sng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Séchage de deux capteurs pendant 3 jours 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cap="flat" w="19050">
            <a:solidFill>
              <a:srgbClr val="1413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111489" y="1028700"/>
            <a:ext cx="12838176" cy="5881005"/>
            <a:chOff x="0" y="0"/>
            <a:chExt cx="17117568" cy="78413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08378" cy="7841340"/>
            </a:xfrm>
            <a:custGeom>
              <a:avLst/>
              <a:gdLst/>
              <a:ahLst/>
              <a:cxnLst/>
              <a:rect r="r" b="b" t="t" l="l"/>
              <a:pathLst>
                <a:path h="7841340" w="17108378">
                  <a:moveTo>
                    <a:pt x="0" y="0"/>
                  </a:moveTo>
                  <a:lnTo>
                    <a:pt x="17108378" y="0"/>
                  </a:lnTo>
                  <a:lnTo>
                    <a:pt x="17108378" y="7841340"/>
                  </a:lnTo>
                  <a:lnTo>
                    <a:pt x="0" y="7841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1229"/>
              <a:ext cx="17117568" cy="7800111"/>
            </a:xfrm>
            <a:custGeom>
              <a:avLst/>
              <a:gdLst/>
              <a:ahLst/>
              <a:cxnLst/>
              <a:rect r="r" b="b" t="t" l="l"/>
              <a:pathLst>
                <a:path h="7800111" w="17117568">
                  <a:moveTo>
                    <a:pt x="0" y="0"/>
                  </a:moveTo>
                  <a:lnTo>
                    <a:pt x="17117568" y="0"/>
                  </a:lnTo>
                  <a:lnTo>
                    <a:pt x="17117568" y="7800111"/>
                  </a:lnTo>
                  <a:lnTo>
                    <a:pt x="0" y="7800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013468" y="3829020"/>
              <a:ext cx="2209037" cy="1798054"/>
            </a:xfrm>
            <a:custGeom>
              <a:avLst/>
              <a:gdLst/>
              <a:ahLst/>
              <a:cxnLst/>
              <a:rect r="r" b="b" t="t" l="l"/>
              <a:pathLst>
                <a:path h="1798054" w="2209037">
                  <a:moveTo>
                    <a:pt x="0" y="0"/>
                  </a:moveTo>
                  <a:lnTo>
                    <a:pt x="2209038" y="0"/>
                  </a:lnTo>
                  <a:lnTo>
                    <a:pt x="2209038" y="1798054"/>
                  </a:lnTo>
                  <a:lnTo>
                    <a:pt x="0" y="1798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9138" y="7306848"/>
            <a:ext cx="1604972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résistance des capteurs évolue de 4 kΩ à l'état humide jusqu'à 75 kΩ après 60 heures de séchage.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DAHMJh1D_5A</dc:identifier>
  <dcterms:modified xsi:type="dcterms:W3CDTF">2011-08-01T06:04:30Z</dcterms:modified>
  <cp:revision>1</cp:revision>
  <dc:title>Bilan Énergétique</dc:title>
</cp:coreProperties>
</file>